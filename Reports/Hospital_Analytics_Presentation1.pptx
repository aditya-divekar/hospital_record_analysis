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94D2B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D2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Adult</c:v>
                </c:pt>
                <c:pt idx="1">
                  <c:v>Middle Age</c:v>
                </c:pt>
                <c:pt idx="2">
                  <c:v>Senior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1477</c:v>
                </c:pt>
                <c:pt idx="1">
                  <c:v>4782</c:v>
                </c:pt>
                <c:pt idx="2">
                  <c:v>21632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D2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D2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3A4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a69833e-7104-4e98-a639-a9fbb5f0963e}"/>
      </c:ext>
    </c:extLst>
  </c:chart>
  <c:spPr>
    <a:solidFill>
      <a:srgbClr val="1E3A4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14253</c:v>
                </c:pt>
                <c:pt idx="1">
                  <c:v>13638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94D2BD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9099ada-77c3-481e-9973-02356f600469}"/>
      </c:ext>
    </c:extLst>
  </c:chart>
  <c:spPr>
    <a:solidFill>
      <a:srgbClr val="1E3A4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ln w="31750" cap="flat" cmpd="sng" algn="ctr">
              <a:solidFill>
                <a:srgbClr val="E9C4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C46A"/>
              </a:solidFill>
              <a:ln w="9525" cap="flat" cmpd="sng" algn="ctr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</c:v>
                </c:pt>
                <c:pt idx="1">
                  <c:v>170</c:v>
                </c:pt>
                <c:pt idx="2">
                  <c:v>205</c:v>
                </c:pt>
                <c:pt idx="3">
                  <c:v>184</c:v>
                </c:pt>
                <c:pt idx="4">
                  <c:v>189</c:v>
                </c:pt>
                <c:pt idx="5">
                  <c:v>175</c:v>
                </c:pt>
                <c:pt idx="6">
                  <c:v>182</c:v>
                </c:pt>
                <c:pt idx="7">
                  <c:v>176</c:v>
                </c:pt>
                <c:pt idx="8">
                  <c:v>174</c:v>
                </c:pt>
                <c:pt idx="9">
                  <c:v>167</c:v>
                </c:pt>
                <c:pt idx="10">
                  <c:v>180</c:v>
                </c:pt>
                <c:pt idx="11">
                  <c:v>188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D2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D2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3A4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9de3857-a3ea-4633-9772-f75bb7a7da11}"/>
      </c:ext>
    </c:extLst>
  </c:chart>
  <c:spPr>
    <a:solidFill>
      <a:srgbClr val="1E3A4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 (days)</c:v>
                </c:pt>
              </c:strCache>
            </c:strRef>
          </c:tx>
          <c:spPr>
            <a:solidFill>
              <a:srgbClr val="94D2B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D2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Senior</c:v>
                </c:pt>
                <c:pt idx="1">
                  <c:v>Middle Age</c:v>
                </c:pt>
                <c:pt idx="2">
                  <c:v>Adult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1.07</c:v>
                </c:pt>
                <c:pt idx="1">
                  <c:v>1.66</c:v>
                </c:pt>
                <c:pt idx="2">
                  <c:v>2.31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D2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D2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3A4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59a5788-957b-4872-a044-246337ff8d32}"/>
      </c:ext>
    </c:extLst>
  </c:chart>
  <c:spPr>
    <a:solidFill>
      <a:srgbClr val="1E3A4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548640"/>
            <a:ext cx="2743200" cy="2743200"/>
          </a:xfrm>
          <a:prstGeom prst="rect">
            <a:avLst/>
          </a:prstGeom>
          <a:solidFill>
            <a:srgbClr val="1E3A4A"/>
          </a:solidFill>
          <a:ln w="2540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82296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27,891  Visits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0" y="2907792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974  Patients  |  Avg Age 72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7472" y="347472"/>
            <a:ext cx="5486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PERFORMANCE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47472" y="987552"/>
            <a:ext cx="5486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47472" y="1691640"/>
            <a:ext cx="502920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810512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Data Analytics Project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47472" y="2212848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Microsoft Excel  ·  Power Pivot  ·  Pivot Tables  ·  Interactive Dashboard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7472" y="2670048"/>
            <a:ext cx="123444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67004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700784" y="2670048"/>
            <a:ext cx="1234440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00784" y="267004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PIVOT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054096" y="2670048"/>
            <a:ext cx="1234440" cy="320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54096" y="267004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ANALYSIS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407408" y="2670048"/>
            <a:ext cx="1234440" cy="3200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7408" y="267004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7472" y="4663440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901952"/>
            <a:ext cx="252374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0624" y="2331720"/>
            <a:ext cx="2450592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hospital data spread across multiple relational tables with 20,000+ records — unclean, uncategorized, and unananalyzed.</a:t>
            </a:r>
            <a:endParaRPr lang="en-US" sz="14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97280"/>
            <a:ext cx="27432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01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01952"/>
            <a:ext cx="252374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46704" y="2331720"/>
            <a:ext cx="2450592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Excel analytics: data cleaning → feature engineering → Power Pivot modeling → multi-dimensional pivot analysis → interactive dashboard.</a:t>
            </a:r>
            <a:endParaRPr lang="en-US" sz="14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97280"/>
            <a:ext cx="27432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1901952"/>
            <a:ext cx="252374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Outcome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72784" y="2331720"/>
            <a:ext cx="2450592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interactive Hospital Performance Dashboard delivering KPIs, demographic insights, and operational metrics for decision-makers.</a:t>
            </a:r>
            <a:endParaRPr lang="en-US" sz="14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82880" y="4480560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27,891 Total Encounters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1892808" y="4663440"/>
            <a:ext cx="18288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965960" y="4480560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974 Unique Patients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675888" y="4663440"/>
            <a:ext cx="18288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749040" y="4480560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20,000+ Records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58968" y="4663440"/>
            <a:ext cx="18288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32120" y="4480560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Relational Tables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242048" y="4663440"/>
            <a:ext cx="18288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315200" y="4480560"/>
            <a:ext cx="1691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Age: 72 yrs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320"/>
          </a:solidFill>
          <a:ln w="12700">
            <a:solidFill>
              <a:srgbClr val="07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kern="0" spc="200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FEATURE ENGINEERING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1298448" cy="3383280"/>
          </a:xfrm>
          <a:prstGeom prst="rect">
            <a:avLst/>
          </a:prstGeom>
          <a:solidFill>
            <a:srgbClr val="1E3A4A"/>
          </a:solidFill>
          <a:ln w="1905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1298448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1155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" y="1645920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0896" y="2029968"/>
            <a:ext cx="11887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Gender: M→Male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Marital: M→Married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IF/IFS functions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63624" y="2487168"/>
            <a:ext cx="146304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19072" y="960120"/>
            <a:ext cx="1298448" cy="3383280"/>
          </a:xfrm>
          <a:prstGeom prst="rect">
            <a:avLst/>
          </a:prstGeom>
          <a:solidFill>
            <a:srgbClr val="1E3A4A"/>
          </a:solidFill>
          <a:ln w="19050">
            <a:solidFill>
              <a:srgbClr val="E76F5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719072" y="960120"/>
            <a:ext cx="1298448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1155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64792" y="1645920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Handling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773936" y="2029968"/>
            <a:ext cx="11887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ZIP→Unknown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Reason→Not Specified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 deleted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026664" y="2487168"/>
            <a:ext cx="146304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182112" y="960120"/>
            <a:ext cx="1298448" cy="3383280"/>
          </a:xfrm>
          <a:prstGeom prst="rect">
            <a:avLst/>
          </a:prstGeom>
          <a:solidFill>
            <a:srgbClr val="1E3A4A"/>
          </a:solidFill>
          <a:ln w="1905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82112" y="960120"/>
            <a:ext cx="1298448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1155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27832" y="1645920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Calc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ulation</a:t>
            </a:r>
            <a:endParaRPr lang="en-IN" alt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236976" y="2029968"/>
            <a:ext cx="11887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DATEDIF logic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Alive: age to TODAY()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Deceased: to death date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489704" y="2487168"/>
            <a:ext cx="146304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45152" y="960120"/>
            <a:ext cx="1298448" cy="3383280"/>
          </a:xfrm>
          <a:prstGeom prst="rect">
            <a:avLst/>
          </a:prstGeom>
          <a:solidFill>
            <a:srgbClr val="1E3A4A"/>
          </a:solidFill>
          <a:ln w="19050">
            <a:solidFill>
              <a:srgbClr val="E76F5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45152" y="960120"/>
            <a:ext cx="1298448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1155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90872" y="1645920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Groups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00016" y="2029968"/>
            <a:ext cx="11887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 0-18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Adult 19-40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Middle 41-60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60+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952744" y="2487168"/>
            <a:ext cx="146304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108192" y="960120"/>
            <a:ext cx="1298448" cy="3383280"/>
          </a:xfrm>
          <a:prstGeom prst="rect">
            <a:avLst/>
          </a:prstGeom>
          <a:solidFill>
            <a:srgbClr val="1E3A4A"/>
          </a:solidFill>
          <a:ln w="1905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08192" y="960120"/>
            <a:ext cx="1298448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111556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53912" y="1645920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 of Stay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163056" y="2029968"/>
            <a:ext cx="11887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- START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Same-day = 1 day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applied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415784" y="2487168"/>
            <a:ext cx="146304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571232" y="960120"/>
            <a:ext cx="1298448" cy="3383280"/>
          </a:xfrm>
          <a:prstGeom prst="rect">
            <a:avLst/>
          </a:prstGeom>
          <a:solidFill>
            <a:srgbClr val="1E3A4A"/>
          </a:solidFill>
          <a:ln w="19050">
            <a:solidFill>
              <a:srgbClr val="E76F5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571232" y="960120"/>
            <a:ext cx="1298448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56" y="1115568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16952" y="1645920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Type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626096" y="2029968"/>
            <a:ext cx="11887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Short: 1-2 days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Medium: 3-7 days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Long: 8+ days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transformation was driven by business logic — not just technical cleaning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PIVOT DATA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1089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10896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108960" cy="338328"/>
          </a:xfrm>
          <a:prstGeom prst="rect">
            <a:avLst/>
          </a:prstGeom>
          <a:solidFill>
            <a:srgbClr val="F0FAF9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 (Primary Key)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02536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BIRTHDATE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3108960" cy="338328"/>
          </a:xfrm>
          <a:prstGeom prst="rect">
            <a:avLst/>
          </a:prstGeom>
          <a:solidFill>
            <a:srgbClr val="F0FAF9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40864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DEATHDATE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79192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GENDER_CLEAN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108960" cy="338328"/>
          </a:xfrm>
          <a:prstGeom prst="rect">
            <a:avLst/>
          </a:prstGeom>
          <a:solidFill>
            <a:srgbClr val="F0FAF9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17520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 /  AGE_GROUP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55848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MARITAL_CLEAN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3108960" cy="338328"/>
          </a:xfrm>
          <a:prstGeom prst="rect">
            <a:avLst/>
          </a:prstGeom>
          <a:solidFill>
            <a:srgbClr val="F0FAF9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94176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RACE  /  ETHNICITY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32504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32504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84448" y="2578608"/>
            <a:ext cx="201168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85616" y="2240280"/>
            <a:ext cx="54864" cy="3931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2240280"/>
            <a:ext cx="1572768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240280"/>
            <a:ext cx="54864" cy="6583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2843784"/>
            <a:ext cx="237744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1965960"/>
            <a:ext cx="192024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96596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ONE-TO-MANY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1664335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patients.Id → encounters.PATIENT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1188720"/>
            <a:ext cx="31089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1188720"/>
            <a:ext cx="310896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1188720"/>
            <a:ext cx="3108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ENCOUNTERS TABLE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577840" y="1664208"/>
            <a:ext cx="3108960" cy="338328"/>
          </a:xfrm>
          <a:prstGeom prst="rect">
            <a:avLst/>
          </a:prstGeom>
          <a:solidFill>
            <a:srgbClr val="FFF5F3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1664208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577840" y="2002536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2002536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PATIENT (Foreign Key)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577840" y="2340864"/>
            <a:ext cx="3108960" cy="338328"/>
          </a:xfrm>
          <a:prstGeom prst="rect">
            <a:avLst/>
          </a:prstGeom>
          <a:solidFill>
            <a:srgbClr val="FFF5F3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2340864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/ STOP timestamps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577840" y="2679192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679192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LENGTH_OF_STAY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577840" y="3017520"/>
            <a:ext cx="3108960" cy="338328"/>
          </a:xfrm>
          <a:prstGeom prst="rect">
            <a:avLst/>
          </a:prstGeom>
          <a:solidFill>
            <a:srgbClr val="FFF5F3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3017520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STAY_TYPE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577840" y="3355848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3355848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ENCOUNTERCLASS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577840" y="3694176"/>
            <a:ext cx="3108960" cy="338328"/>
          </a:xfrm>
          <a:prstGeom prst="rect">
            <a:avLst/>
          </a:prstGeom>
          <a:solidFill>
            <a:srgbClr val="FFF5F3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87568" y="3694176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PAYER / ORGANIZATION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577840" y="4032504"/>
            <a:ext cx="3108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0CE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4032504"/>
            <a:ext cx="2889504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REASONDESCRIPTION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Pivot enables cross-table analysis like SQL JOINs — without duplicating data or using VLOOKUP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157276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572768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" y="1591056"/>
            <a:ext cx="14264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27,891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83464" y="212140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Hospital Visits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965960" y="1005840"/>
            <a:ext cx="157276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65960" y="1005840"/>
            <a:ext cx="1572768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1704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39112" y="1591056"/>
            <a:ext cx="14264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974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020824" y="212140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Patients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703320" y="1005840"/>
            <a:ext cx="157276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703320" y="1005840"/>
            <a:ext cx="1572768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77845" y="1711325"/>
            <a:ext cx="2823210" cy="3086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1.24 days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3758184" y="212140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Length of Stay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513832" y="1591056"/>
            <a:ext cx="14264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5495544" y="212140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459095" y="1005840"/>
            <a:ext cx="157276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59095" y="1005840"/>
            <a:ext cx="1572768" cy="6400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255" y="1170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32247" y="1591056"/>
            <a:ext cx="142646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 yrs</a:t>
            </a:r>
            <a:endParaRPr lang="en-US" sz="2800" dirty="0"/>
          </a:p>
        </p:txBody>
      </p:sp>
      <p:sp>
        <p:nvSpPr>
          <p:cNvPr id="29" name="Text 22"/>
          <p:cNvSpPr/>
          <p:nvPr/>
        </p:nvSpPr>
        <p:spPr>
          <a:xfrm>
            <a:off x="5513959" y="212140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Patient Age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228600" y="283464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28600" y="2834640"/>
            <a:ext cx="20116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294436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83464" y="3337560"/>
            <a:ext cx="19019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77% Senior Visits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01752" y="3712464"/>
            <a:ext cx="186537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21,632 of 27,891 encounters are patients aged 60+</a:t>
            </a:r>
            <a:endParaRPr lang="en-US" sz="14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2404872" y="283464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2404872" y="2834640"/>
            <a:ext cx="20116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8024" y="2944368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459736" y="3337560"/>
            <a:ext cx="19019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99.84% Short Stays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2478024" y="3712464"/>
            <a:ext cx="186537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Almost all visits are 1-2 days — high throughput facility</a:t>
            </a:r>
            <a:endParaRPr lang="en-US" sz="14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4581144" y="283464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581144" y="2834640"/>
            <a:ext cx="201168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2944368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636008" y="3337560"/>
            <a:ext cx="19019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51% / 49% Gender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4654296" y="3712464"/>
            <a:ext cx="186537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Near-equal male-female split across all encounters</a:t>
            </a:r>
            <a:endParaRPr lang="en-US" sz="14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6757416" y="283464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757416" y="283464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2944368"/>
            <a:ext cx="347472" cy="34747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812280" y="3337560"/>
            <a:ext cx="19019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Adults: 2.31 day LOS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6830568" y="3712464"/>
            <a:ext cx="186537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avg stay — seniors are processed fastest at 1.07 days</a:t>
            </a:r>
            <a:endParaRPr lang="en-US" sz="14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320"/>
          </a:solidFill>
          <a:ln w="12700">
            <a:solidFill>
              <a:srgbClr val="07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MULTI-DIMENSIONAL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2057400"/>
          </a:xfrm>
          <a:prstGeom prst="rect">
            <a:avLst/>
          </a:prstGeom>
          <a:solidFill>
            <a:srgbClr val="1E3A4A"/>
          </a:solidFill>
          <a:ln w="12700">
            <a:solidFill>
              <a:srgbClr val="1A3A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Visits by Age Group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280160"/>
          <a:ext cx="4206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09160" y="960120"/>
            <a:ext cx="4206240" cy="2057400"/>
          </a:xfrm>
          <a:prstGeom prst="rect">
            <a:avLst/>
          </a:prstGeom>
          <a:solidFill>
            <a:srgbClr val="1E3A4A"/>
          </a:solidFill>
          <a:ln w="12700">
            <a:solidFill>
              <a:srgbClr val="1A3A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10058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Distribution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09160" y="1280160"/>
          <a:ext cx="4206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154680"/>
            <a:ext cx="4206240" cy="1783080"/>
          </a:xfrm>
          <a:prstGeom prst="rect">
            <a:avLst/>
          </a:prstGeom>
          <a:solidFill>
            <a:srgbClr val="1E3A4A"/>
          </a:solidFill>
          <a:ln w="12700">
            <a:solidFill>
              <a:srgbClr val="1A3A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20040" y="320040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Visit Trend</a:t>
            </a:r>
            <a:endParaRPr lang="en-US" sz="13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228600" y="3474720"/>
          <a:ext cx="4206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4709160" y="3154680"/>
            <a:ext cx="4206240" cy="1783080"/>
          </a:xfrm>
          <a:prstGeom prst="rect">
            <a:avLst/>
          </a:prstGeom>
          <a:solidFill>
            <a:srgbClr val="1E3A4A"/>
          </a:solidFill>
          <a:ln w="12700">
            <a:solidFill>
              <a:srgbClr val="1A3A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800600" y="320040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Length of Stay by Age Group</a:t>
            </a:r>
            <a:endParaRPr lang="en-US" sz="1300" dirty="0"/>
          </a:p>
        </p:txBody>
      </p:sp>
      <p:graphicFrame>
        <p:nvGraphicFramePr>
          <p:cNvPr id="15" name="Chart 3"/>
          <p:cNvGraphicFramePr/>
          <p:nvPr/>
        </p:nvGraphicFramePr>
        <p:xfrm>
          <a:off x="4709160" y="3474720"/>
          <a:ext cx="4206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DASHBOARD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7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2471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 (Top Row)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444752"/>
            <a:ext cx="3337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large-number metric tiles — Total Visits, Patients, Avg LOS, Avg Age — for instant executive summary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02082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020824"/>
            <a:ext cx="6400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19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093976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Chart Suite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2414016"/>
            <a:ext cx="3337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Bar, Pie, Column, Line charts — each answering a different business question across demographics &amp; trends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99008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990088"/>
            <a:ext cx="64008" cy="868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912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0632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Interactive Slicers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383280"/>
            <a:ext cx="3337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· Gender · Age Group · Stay Type — all slicers connected to ALL charts simultaneously for dynamic filtering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39593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959352"/>
            <a:ext cx="6400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605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4032504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Design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60120" y="4352544"/>
            <a:ext cx="3337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color theme, no gridlines, proper spacing — professional &amp; self-service ready for any stakeholder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6445" y="960120"/>
            <a:ext cx="4476750" cy="384175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09160" y="960120"/>
            <a:ext cx="4098290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Performance Dashboard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36592" y="1417320"/>
            <a:ext cx="941832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760720" y="1417320"/>
            <a:ext cx="941832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784848" y="1417320"/>
            <a:ext cx="941832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808976" y="1417320"/>
            <a:ext cx="94183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36592" y="2011680"/>
            <a:ext cx="1828800" cy="1143000"/>
          </a:xfrm>
          <a:prstGeom prst="rect">
            <a:avLst/>
          </a:prstGeom>
          <a:solidFill>
            <a:srgbClr val="EBF4F7"/>
          </a:solidFill>
          <a:ln w="12700">
            <a:solidFill>
              <a:srgbClr val="C5D9E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36592" y="2011680"/>
            <a:ext cx="1828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Group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647688" y="2011680"/>
            <a:ext cx="2194560" cy="1143000"/>
          </a:xfrm>
          <a:prstGeom prst="rect">
            <a:avLst/>
          </a:prstGeom>
          <a:solidFill>
            <a:srgbClr val="EBF4F7"/>
          </a:solidFill>
          <a:ln w="12700">
            <a:solidFill>
              <a:srgbClr val="C5D9E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647688" y="2011680"/>
            <a:ext cx="2194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Pie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736592" y="3236976"/>
            <a:ext cx="1828800" cy="1143000"/>
          </a:xfrm>
          <a:prstGeom prst="rect">
            <a:avLst/>
          </a:prstGeom>
          <a:solidFill>
            <a:srgbClr val="FFF5F0"/>
          </a:solidFill>
          <a:ln w="12700">
            <a:solidFill>
              <a:srgbClr val="F0CEC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36592" y="3236976"/>
            <a:ext cx="1828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Type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647688" y="3236976"/>
            <a:ext cx="2194560" cy="1143000"/>
          </a:xfrm>
          <a:prstGeom prst="rect">
            <a:avLst/>
          </a:prstGeom>
          <a:solidFill>
            <a:srgbClr val="FFFBEB"/>
          </a:solidFill>
          <a:ln w="12700">
            <a:solidFill>
              <a:srgbClr val="E9D5A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647688" y="3236976"/>
            <a:ext cx="2194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Trend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Chart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8659368" y="1417320"/>
            <a:ext cx="23774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659368" y="1417320"/>
            <a:ext cx="2377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</a:t>
            </a:r>
            <a:endParaRPr lang="en-US" sz="700" dirty="0"/>
          </a:p>
        </p:txBody>
      </p:sp>
      <p:sp>
        <p:nvSpPr>
          <p:cNvPr id="42" name="Shape 36"/>
          <p:cNvSpPr/>
          <p:nvPr/>
        </p:nvSpPr>
        <p:spPr>
          <a:xfrm>
            <a:off x="8659368" y="2276856"/>
            <a:ext cx="23774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659368" y="2276856"/>
            <a:ext cx="2377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8659368" y="3136392"/>
            <a:ext cx="23774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659368" y="3136392"/>
            <a:ext cx="2377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</a:t>
            </a:r>
            <a:endParaRPr lang="en-US" sz="700" dirty="0"/>
          </a:p>
        </p:txBody>
      </p:sp>
      <p:sp>
        <p:nvSpPr>
          <p:cNvPr id="46" name="Shape 40"/>
          <p:cNvSpPr/>
          <p:nvPr/>
        </p:nvSpPr>
        <p:spPr>
          <a:xfrm>
            <a:off x="8659368" y="3995928"/>
            <a:ext cx="23774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365760" y="4892167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slicers connected to all charts → fully dynamic self-service analytics</a:t>
            </a:r>
            <a:endParaRPr lang="en-US" sz="1100" dirty="0"/>
          </a:p>
        </p:txBody>
      </p:sp>
      <p:pic>
        <p:nvPicPr>
          <p:cNvPr id="49" name="Picture 48" descr="hospital_rec_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44295"/>
            <a:ext cx="4481195" cy="30245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320"/>
          </a:solidFill>
          <a:ln w="12700">
            <a:solidFill>
              <a:srgbClr val="07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 &amp; BUSINESS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206240" cy="1810512"/>
          </a:xfrm>
          <a:prstGeom prst="rect">
            <a:avLst/>
          </a:prstGeom>
          <a:solidFill>
            <a:srgbClr val="1E3A4A"/>
          </a:solidFill>
          <a:ln w="1905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88136"/>
            <a:ext cx="420624" cy="4206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881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088136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Patients Dominate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213055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visits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581912"/>
            <a:ext cx="214884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21,632 of 27,891 encounters are from patients aged 60+. Hospital resources and protocols should be oriented towards geriatric care.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1810512"/>
          </a:xfrm>
          <a:prstGeom prst="rect">
            <a:avLst/>
          </a:prstGeom>
          <a:solidFill>
            <a:srgbClr val="1E3A4A"/>
          </a:solidFill>
          <a:ln w="19050">
            <a:solidFill>
              <a:srgbClr val="E76F5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088136"/>
            <a:ext cx="420624" cy="42062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881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088136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Throughput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91456" y="1600200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99.84%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91456" y="213055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stays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1581912"/>
            <a:ext cx="214884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Near-complete short-stay pattern signals efficient throughput. This hospital functions as a high-volume outpatient hub rather than long-term care.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926080"/>
            <a:ext cx="4206240" cy="1810512"/>
          </a:xfrm>
          <a:prstGeom prst="rect">
            <a:avLst/>
          </a:prstGeom>
          <a:solidFill>
            <a:srgbClr val="1E3A4A"/>
          </a:solidFill>
          <a:ln w="19050">
            <a:solidFill>
              <a:srgbClr val="E9C46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54096"/>
            <a:ext cx="420624" cy="42062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540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3054096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Age-LOS Inversion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" y="3566160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2.31 vs 1.07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" y="409651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Adult vs Senior LOS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547872"/>
            <a:ext cx="214884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Adults stay 2.31 days on average while Seniors — the majority — stay only 1.07 days. Seniors have highly standardized, faster care protocols.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06240" cy="1810512"/>
          </a:xfrm>
          <a:prstGeom prst="rect">
            <a:avLst/>
          </a:prstGeom>
          <a:solidFill>
            <a:srgbClr val="1E3A4A"/>
          </a:solidFill>
          <a:ln w="19050">
            <a:solidFill>
              <a:srgbClr val="94D2B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3054096"/>
            <a:ext cx="420624" cy="42062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0540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054096"/>
            <a:ext cx="3429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Seasonal Visit Patterns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91456" y="3566160"/>
            <a:ext cx="1737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 116 → Mar 205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791456" y="409651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range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01968" y="3547872"/>
            <a:ext cx="214884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E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seasonal demand peaks in March and December. Hospital staffing and resource planning can be optimized using these cyclical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SKILLS DEMONSTRATED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269748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6974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338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133856"/>
            <a:ext cx="20848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" y="1600200"/>
            <a:ext cx="91440" cy="91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3619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/ IFS / IFS functions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" y="1874520"/>
            <a:ext cx="91440" cy="91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1051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XLOOKUP for enrichment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4048" y="2148840"/>
            <a:ext cx="91440" cy="91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08483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value strategies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423160"/>
            <a:ext cx="91440" cy="91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35915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Categorical standardization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136392" y="1005840"/>
            <a:ext cx="269748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36392" y="1005840"/>
            <a:ext cx="269748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13385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30168" y="1133856"/>
            <a:ext cx="20848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Engg.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264408" y="1600200"/>
            <a:ext cx="9144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29000" y="153619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from DATEDIF + TODAY()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64408" y="1874520"/>
            <a:ext cx="9144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29000" y="181051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Group segmentation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264408" y="2148840"/>
            <a:ext cx="9144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29000" y="208483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 of Stay calc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264408" y="2423160"/>
            <a:ext cx="9144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29000" y="235915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Type categorization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016752" y="1005840"/>
            <a:ext cx="269748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16752" y="1005840"/>
            <a:ext cx="269748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133856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10528" y="1133856"/>
            <a:ext cx="20848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144768" y="1600200"/>
            <a:ext cx="914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09360" y="153619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Pivot Data Model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144768" y="1874520"/>
            <a:ext cx="914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09360" y="181051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relationships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144768" y="2148840"/>
            <a:ext cx="914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09360" y="208483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Cross-table analysis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144768" y="2423160"/>
            <a:ext cx="914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309360" y="2359152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VLOOKUP duplication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256032" y="2944368"/>
            <a:ext cx="269748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256032" y="2944368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072384"/>
            <a:ext cx="329184" cy="32918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49808" y="3072384"/>
            <a:ext cx="20848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Analysis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384048" y="3538728"/>
            <a:ext cx="91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48640" y="347472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Multi-dim pivot tables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384048" y="3813048"/>
            <a:ext cx="91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48640" y="374904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Calculated fields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384048" y="4087368"/>
            <a:ext cx="91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48640" y="402336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Cross-dimensional pivots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384048" y="4361688"/>
            <a:ext cx="91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48640" y="429768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 &amp; trend analysis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3136392" y="2944368"/>
            <a:ext cx="269748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3136392" y="2944368"/>
            <a:ext cx="269748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832" y="3072384"/>
            <a:ext cx="329184" cy="329184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3630168" y="3072384"/>
            <a:ext cx="20848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3264408" y="3538728"/>
            <a:ext cx="91440" cy="914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3429000" y="347472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Bar, Pie, Line, Column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3264408" y="3813048"/>
            <a:ext cx="91440" cy="914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3429000" y="374904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formatting &amp; cleanup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3264408" y="4087368"/>
            <a:ext cx="91440" cy="914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3429000" y="402336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 interactivity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3264408" y="4361688"/>
            <a:ext cx="91440" cy="9144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3429000" y="429768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 design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6016752" y="2944368"/>
            <a:ext cx="269748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6016752" y="2944368"/>
            <a:ext cx="26974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3072384"/>
            <a:ext cx="329184" cy="329184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6510528" y="3072384"/>
            <a:ext cx="20848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UX</a:t>
            </a:r>
            <a:endParaRPr lang="en-US" sz="1300" dirty="0"/>
          </a:p>
        </p:txBody>
      </p:sp>
      <p:sp>
        <p:nvSpPr>
          <p:cNvPr id="69" name="Shape 61"/>
          <p:cNvSpPr/>
          <p:nvPr/>
        </p:nvSpPr>
        <p:spPr>
          <a:xfrm>
            <a:off x="6144768" y="3538728"/>
            <a:ext cx="9144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6309360" y="347472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layout design</a:t>
            </a:r>
            <a:endParaRPr lang="en-US" sz="1050" dirty="0"/>
          </a:p>
        </p:txBody>
      </p:sp>
      <p:sp>
        <p:nvSpPr>
          <p:cNvPr id="71" name="Shape 63"/>
          <p:cNvSpPr/>
          <p:nvPr/>
        </p:nvSpPr>
        <p:spPr>
          <a:xfrm>
            <a:off x="6144768" y="3813048"/>
            <a:ext cx="9144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6309360" y="374904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color theme</a:t>
            </a:r>
            <a:endParaRPr lang="en-US" sz="1050" dirty="0"/>
          </a:p>
        </p:txBody>
      </p:sp>
      <p:sp>
        <p:nvSpPr>
          <p:cNvPr id="73" name="Shape 65"/>
          <p:cNvSpPr/>
          <p:nvPr/>
        </p:nvSpPr>
        <p:spPr>
          <a:xfrm>
            <a:off x="6144768" y="4087368"/>
            <a:ext cx="9144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6309360" y="402336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Self-service slicers</a:t>
            </a:r>
            <a:endParaRPr lang="en-US" sz="1050" dirty="0"/>
          </a:p>
        </p:txBody>
      </p:sp>
      <p:sp>
        <p:nvSpPr>
          <p:cNvPr id="75" name="Shape 67"/>
          <p:cNvSpPr/>
          <p:nvPr/>
        </p:nvSpPr>
        <p:spPr>
          <a:xfrm>
            <a:off x="6144768" y="4361688"/>
            <a:ext cx="9144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6309360" y="4297680"/>
            <a:ext cx="23134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KPI summary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80760" y="365760"/>
            <a:ext cx="2880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DELIVERED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144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55664" y="886968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Analytics Workflow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6420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5664" y="1636776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Data Modeling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41401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55664" y="2386584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in Every Step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163824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55664" y="313639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6-Chart Interactive Dashboard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913632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55664" y="388620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Actionable Business Insights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365760" y="502920"/>
            <a:ext cx="5303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6" name="Shape 9"/>
          <p:cNvSpPr/>
          <p:nvPr/>
        </p:nvSpPr>
        <p:spPr>
          <a:xfrm>
            <a:off x="365760" y="1261872"/>
            <a:ext cx="36576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65760" y="1417320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Performance Analytics Dashboard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365760" y="1965960"/>
            <a:ext cx="5349240" cy="1508760"/>
          </a:xfrm>
          <a:prstGeom prst="rect">
            <a:avLst/>
          </a:prstGeom>
          <a:solidFill>
            <a:srgbClr val="1E3A4A"/>
          </a:solidFill>
          <a:ln w="12700">
            <a:solidFill>
              <a:srgbClr val="0A93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548640" y="2084832"/>
            <a:ext cx="498348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 took raw hospital data, built a relational model, applied business logic throughout cleaning and feature engineering, conducted multi-dimensional analysis, and delivered an interactive Excel dashboard — covering the complete analytics pipeline from raw data to actionable insights."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65760" y="4462272"/>
            <a:ext cx="14173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65760" y="446227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1901952" y="4462272"/>
            <a:ext cx="141732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901952" y="446227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Pivot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438144" y="4462272"/>
            <a:ext cx="14173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438144" y="446227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974336" y="4462272"/>
            <a:ext cx="141732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974336" y="446227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Design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510528" y="4462272"/>
            <a:ext cx="14173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510528" y="446227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4897</Words>
  <Application>WPS Presentation</Application>
  <PresentationFormat>On-screen Show (16:9)</PresentationFormat>
  <Paragraphs>345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Performance Analytics Dashboard</dc:title>
  <dc:creator>PptxGenJS</dc:creator>
  <dc:subject>PptxGenJS Presentation</dc:subject>
  <cp:lastModifiedBy>Aditya Divekar</cp:lastModifiedBy>
  <cp:revision>2</cp:revision>
  <dcterms:created xsi:type="dcterms:W3CDTF">2026-05-07T20:52:00Z</dcterms:created>
  <dcterms:modified xsi:type="dcterms:W3CDTF">2026-05-07T21:16:26Z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1805DD8A7614431B93975ABB3CEEB77C_13</vt:lpwstr>
  </property>
</Properties>
</file>